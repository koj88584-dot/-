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8775700" y="-546100"/>
            <a:ext cx="3111500" cy="31115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0236200" y="4483100"/>
            <a:ext cx="1828800" cy="18288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7632700" y="965200"/>
            <a:ext cx="2971800" cy="4775200"/>
          </a:xfrm>
          <a:prstGeom prst="roundRect">
            <a:avLst/>
          </a:prstGeom>
          <a:solidFill>
            <a:srgbClr val="F9FAF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886700" y="1295400"/>
            <a:ext cx="2463800" cy="381000"/>
          </a:xfrm>
          <a:prstGeom prst="round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886700" y="1905000"/>
            <a:ext cx="2463800" cy="660400"/>
          </a:xfrm>
          <a:prstGeom prst="roundRect">
            <a:avLst/>
          </a:prstGeom>
          <a:solidFill>
            <a:srgbClr val="EEF7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886700" y="2768600"/>
            <a:ext cx="1092200" cy="698500"/>
          </a:xfrm>
          <a:prstGeom prst="roundRect">
            <a:avLst/>
          </a:prstGeom>
          <a:solidFill>
            <a:srgbClr val="FFE7E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9258300" y="2768600"/>
            <a:ext cx="1092200" cy="698500"/>
          </a:xfrm>
          <a:prstGeom prst="roundRect">
            <a:avLst/>
          </a:prstGeom>
          <a:solidFill>
            <a:srgbClr val="FFF2C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886700" y="3771900"/>
            <a:ext cx="2463800" cy="1066800"/>
          </a:xfrm>
          <a:prstGeom prst="roundRect">
            <a:avLst/>
          </a:prstGeom>
          <a:solidFill>
            <a:srgbClr val="EAF0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305800" y="4038600"/>
            <a:ext cx="254000" cy="2540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220200" y="42291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829800" y="3937000"/>
            <a:ext cx="177800" cy="1778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5800" y="1143000"/>
            <a:ext cx="5118100" cy="5683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34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周边优选通</a:t>
            </a:r>
            <a:endParaRPr lang="zh-CN" altLang="en-US" sz="34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1200" y="1879600"/>
            <a:ext cx="6121400" cy="368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100" b="1">
                <a:solidFill>
                  <a:srgbClr val="DDF3E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本地生活点评平台中期答辩</a:t>
            </a:r>
            <a:endParaRPr lang="zh-CN" altLang="en-US" sz="2100" b="1">
              <a:solidFill>
                <a:srgbClr val="DDF3E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9300" y="2489200"/>
            <a:ext cx="51181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1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</a:rPr>
              <a:t>Spring Boot + Redis + MySQL + Vue/Element UI</a:t>
            </a:r>
            <a:endParaRPr lang="en-US" altLang="en-US" sz="1100">
              <a:solidFill>
                <a:srgbClr val="BBD0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49300" y="3149600"/>
            <a:ext cx="4483100" cy="1219200"/>
          </a:xfrm>
          <a:prstGeom prst="roundRect">
            <a:avLst/>
          </a:prstGeom>
          <a:solidFill>
            <a:srgbClr val="21302D"/>
          </a:solidFill>
          <a:ln w="12700" cap="flat" cmpd="sng" algn="ctr">
            <a:solidFill>
              <a:srgbClr val="3B4E49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65200" y="3403600"/>
            <a:ext cx="3975100" cy="5994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200">
                <a:solidFill>
                  <a:srgbClr val="F7F8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当前阶段已完成账户、店铺、优惠券、社区内容、商家入驻、地图检索与</a:t>
            </a:r>
            <a:r>
              <a:rPr lang="en-US" altLang="zh-CN" sz="1200">
                <a:solidFill>
                  <a:srgbClr val="F7F8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200">
                <a:solidFill>
                  <a:srgbClr val="F7F8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助手等主流程，正在进入压测、部署和演示</a:t>
            </a:r>
            <a:r>
              <a:rPr lang="en-US" altLang="zh-CN" sz="1200">
                <a:solidFill>
                  <a:srgbClr val="F7F8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polish </a:t>
            </a:r>
            <a:r>
              <a:rPr lang="zh-CN" altLang="en-US" sz="1200">
                <a:solidFill>
                  <a:srgbClr val="F7F8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阶段。</a:t>
            </a:r>
            <a:endParaRPr lang="zh-CN" altLang="en-US" sz="1200">
              <a:solidFill>
                <a:srgbClr val="F7F8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9300" y="6121400"/>
            <a:ext cx="53086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</a:t>
            </a:r>
            <a:r>
              <a:rPr lang="en-US" altLang="zh-CN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   </a:t>
            </a:r>
            <a:r>
              <a:rPr lang="zh-CN" altLang="en-US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</a:t>
            </a:r>
            <a:r>
              <a:rPr lang="en-US" altLang="zh-CN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   2026</a:t>
            </a:r>
            <a:r>
              <a:rPr lang="zh-CN" altLang="en-US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0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00">
              <a:solidFill>
                <a:srgbClr val="BBD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答辩目录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从业务目标到阶段成果，再落到下一阶段计划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11200" y="1447800"/>
            <a:ext cx="444500" cy="4445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4700" y="1562100"/>
            <a:ext cx="304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58900" y="1460500"/>
            <a:ext cx="2006600" cy="276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5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项目背景与目标</a:t>
            </a:r>
            <a:endParaRPr lang="zh-CN" altLang="en-US" sz="15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92500" y="1498600"/>
            <a:ext cx="59436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本地生活发现、内容互动和优惠券交易闭环</a:t>
            </a:r>
            <a:endParaRPr lang="zh-CN" altLang="en-US" sz="11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927100" y="1879600"/>
            <a:ext cx="635" cy="393700"/>
          </a:xfrm>
          <a:prstGeom prst="line">
            <a:avLst/>
          </a:prstGeom>
          <a:ln w="17780">
            <a:solidFill>
              <a:srgbClr val="C9D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711200" y="2286000"/>
            <a:ext cx="444500" cy="4445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4700" y="2400300"/>
            <a:ext cx="304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58900" y="2298700"/>
            <a:ext cx="2006600" cy="276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5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需求与总体设计</a:t>
            </a:r>
            <a:endParaRPr lang="zh-CN" altLang="en-US" sz="15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92500" y="2336800"/>
            <a:ext cx="59436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角色边界、系统架构、数据库与缓存设计</a:t>
            </a:r>
            <a:endParaRPr lang="zh-CN" altLang="en-US" sz="11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927100" y="2730500"/>
            <a:ext cx="635" cy="381000"/>
          </a:xfrm>
          <a:prstGeom prst="line">
            <a:avLst/>
          </a:prstGeom>
          <a:ln w="17780">
            <a:solidFill>
              <a:srgbClr val="C9D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711200" y="3124200"/>
            <a:ext cx="444500" cy="4445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4700" y="3251200"/>
            <a:ext cx="304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58900" y="3149600"/>
            <a:ext cx="2006600" cy="276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5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核心功能实现</a:t>
            </a:r>
            <a:endParaRPr lang="zh-CN" altLang="en-US" sz="15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92500" y="3187700"/>
            <a:ext cx="59436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登录认证、店铺缓存、秒杀下单、内容社交</a:t>
            </a:r>
            <a:endParaRPr lang="zh-CN" altLang="en-US" sz="11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27100" y="3568700"/>
            <a:ext cx="635" cy="381000"/>
          </a:xfrm>
          <a:prstGeom prst="line">
            <a:avLst/>
          </a:prstGeom>
          <a:ln w="17780">
            <a:solidFill>
              <a:srgbClr val="C9D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711200" y="3962400"/>
            <a:ext cx="444500" cy="4445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74700" y="4089400"/>
            <a:ext cx="304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58900" y="3987800"/>
            <a:ext cx="2006600" cy="276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5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阶段成果与测试</a:t>
            </a:r>
            <a:endParaRPr lang="zh-CN" altLang="en-US" sz="15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92500" y="4025900"/>
            <a:ext cx="59436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页面、接口、单测与质量保障</a:t>
            </a:r>
            <a:endParaRPr lang="zh-CN" altLang="en-US" sz="11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927100" y="4406900"/>
            <a:ext cx="635" cy="381000"/>
          </a:xfrm>
          <a:prstGeom prst="line">
            <a:avLst/>
          </a:prstGeom>
          <a:ln w="17780">
            <a:solidFill>
              <a:srgbClr val="C9D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11200" y="4813300"/>
            <a:ext cx="444500" cy="4445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74700" y="4927600"/>
            <a:ext cx="304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58900" y="4826000"/>
            <a:ext cx="2006600" cy="276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5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问题风险与计划</a:t>
            </a:r>
            <a:endParaRPr lang="zh-CN" altLang="en-US" sz="15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92500" y="4864100"/>
            <a:ext cx="5943600" cy="214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压测、部署、安全配置与答辩演示</a:t>
            </a:r>
            <a:endParaRPr lang="zh-CN" altLang="en-US" sz="11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779000" y="1320800"/>
            <a:ext cx="1422400" cy="42926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982200" y="1625600"/>
            <a:ext cx="1003300" cy="4762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中期答辩重点</a:t>
            </a:r>
            <a:endParaRPr lang="zh-CN" altLang="en-US" sz="14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020300" y="2235200"/>
            <a:ext cx="927100" cy="10458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3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</a:rPr>
              <a:t>讲清楚做了什么，为什么这样设计，以及后半程如何收口。</a:t>
            </a:r>
            <a:endParaRPr lang="zh-CN" altLang="en-US" sz="1300" b="1">
              <a:solidFill>
                <a:srgbClr val="DDF3E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02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项目背景与建设目标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围绕本地生活场景，打通找店、看评价、领券和交易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60400" y="1295400"/>
            <a:ext cx="3276600" cy="1320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60400" y="1295400"/>
            <a:ext cx="76200" cy="13208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3600" y="1460500"/>
            <a:ext cx="2921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用户侧痛点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3600" y="1828800"/>
            <a:ext cx="2921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信息分散，附近好店难发现；优惠券与订单入口割裂；收藏、浏览、关注等个性化能力不足。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95800" y="1295400"/>
            <a:ext cx="3276600" cy="1320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95800" y="1295400"/>
            <a:ext cx="76200" cy="13208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699000" y="1460500"/>
            <a:ext cx="2921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商家侧诉求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99000" y="1828800"/>
            <a:ext cx="2921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需要自助入驻、认领门店、发布优惠券，并能查看券订单和核销结果。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343900" y="1295400"/>
            <a:ext cx="3149600" cy="1320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343900" y="1295400"/>
            <a:ext cx="76200" cy="1320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34400" y="1460500"/>
            <a:ext cx="2806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平台侧目标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534400" y="1828800"/>
            <a:ext cx="2806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用审核、风控、缓存和异步化能力支撑可靠运营，同时保留扩展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AI/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地图能力的接口。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25500" y="3365500"/>
            <a:ext cx="10604500" cy="11684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17600" y="3606800"/>
            <a:ext cx="1320800" cy="2914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建设目标</a:t>
            </a:r>
            <a:endParaRPr lang="zh-CN" altLang="en-US" sz="16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65400" y="3644900"/>
            <a:ext cx="8140700" cy="5378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形成「发现店铺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查看详情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领取或秒杀优惠券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核销</a:t>
            </a:r>
            <a:r>
              <a:rPr lang="en-US" altLang="zh-CN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内容分享与关系沉淀」的闭环。</a:t>
            </a:r>
            <a:endParaRPr lang="zh-CN" altLang="en-US" sz="1600" b="1">
              <a:solidFill>
                <a:srgbClr val="DDF3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092200" y="5143500"/>
            <a:ext cx="1079500" cy="5080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68400" y="5245100"/>
            <a:ext cx="927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发现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222500" y="5397500"/>
            <a:ext cx="520700" cy="635"/>
          </a:xfrm>
          <a:prstGeom prst="line">
            <a:avLst/>
          </a:prstGeom>
          <a:ln w="2540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2794000" y="5143500"/>
            <a:ext cx="1079500" cy="5080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857500" y="5245100"/>
            <a:ext cx="927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3911600" y="5397500"/>
            <a:ext cx="5207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4483100" y="5143500"/>
            <a:ext cx="1079500" cy="5080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559300" y="5245100"/>
            <a:ext cx="927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领券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600700" y="5397500"/>
            <a:ext cx="520700" cy="635"/>
          </a:xfrm>
          <a:prstGeom prst="line">
            <a:avLst/>
          </a:prstGeom>
          <a:ln w="25400">
            <a:solidFill>
              <a:srgbClr val="F2B84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6172200" y="5143500"/>
            <a:ext cx="1079500" cy="5080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248400" y="5245100"/>
            <a:ext cx="927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下单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302500" y="5397500"/>
            <a:ext cx="520700" cy="635"/>
          </a:xfrm>
          <a:prstGeom prst="line">
            <a:avLst/>
          </a:prstGeom>
          <a:ln w="2540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7861300" y="5143500"/>
            <a:ext cx="1079500" cy="5080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37500" y="5245100"/>
            <a:ext cx="927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分享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8991600" y="5397500"/>
            <a:ext cx="5207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9550400" y="5143500"/>
            <a:ext cx="1079500" cy="5080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626600" y="5245100"/>
            <a:ext cx="927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复访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03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需求范围与角色边界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以四类角色划分功能，降低权限与业务复杂度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35000" y="1295400"/>
            <a:ext cx="49784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35000" y="1295400"/>
            <a:ext cx="76200" cy="13335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1460500"/>
            <a:ext cx="46355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普通用户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8200" y="1828800"/>
            <a:ext cx="46355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注册登录、签到、店铺浏览、搜索、收藏、关注、发笔记、评论、领券与订单管理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223000" y="1295400"/>
            <a:ext cx="49784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23000" y="1295400"/>
            <a:ext cx="76200" cy="13335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13500" y="1460500"/>
            <a:ext cx="46355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商家用户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13500" y="1828800"/>
            <a:ext cx="46355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提交入驻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认领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新建门店申请，维护优惠券，查看并核销券订单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35000" y="3035300"/>
            <a:ext cx="49784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35000" y="3035300"/>
            <a:ext cx="76200" cy="13335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38200" y="3200400"/>
            <a:ext cx="46355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管理员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8200" y="3568700"/>
            <a:ext cx="46355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审核商家入驻、门店认领、新店创建，保障平台内容与交易可信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223000" y="3035300"/>
            <a:ext cx="49784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223000" y="3035300"/>
            <a:ext cx="76200" cy="13335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413500" y="3200400"/>
            <a:ext cx="46355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系统服务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413500" y="3568700"/>
            <a:ext cx="46355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缓存、限流、秒杀异步下单、地图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POI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助手路由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14400" y="5118100"/>
            <a:ext cx="10337800" cy="749300"/>
          </a:xfrm>
          <a:prstGeom prst="roundRect">
            <a:avLst/>
          </a:prstGeom>
          <a:solidFill>
            <a:srgbClr val="EBF3EF"/>
          </a:solidFill>
          <a:ln w="12700" cap="flat" cmpd="sng" algn="ctr">
            <a:solidFill>
              <a:srgbClr val="C9DCD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168400" y="5321300"/>
            <a:ext cx="12319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3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中期验收口径</a:t>
            </a:r>
            <a:endParaRPr lang="zh-CN" altLang="en-US" sz="13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78100" y="5334000"/>
            <a:ext cx="78232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主流程可演示、核心接口成型、数据库</a:t>
            </a:r>
            <a:r>
              <a:rPr lang="en-US" altLang="zh-CN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缓存模型可解释，后续重点转向稳定性、安全性和部署交付。</a:t>
            </a:r>
            <a:endParaRPr lang="zh-CN" altLang="en-US" sz="12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04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总体架构设计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前后端分离，后端以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Spring Boot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分层承载业务，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支撑高频访问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60400" y="1828800"/>
            <a:ext cx="1879600" cy="8636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6600" y="1943100"/>
            <a:ext cx="17272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2 + Element UI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静态页面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28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603500" y="2260600"/>
            <a:ext cx="711200" cy="635"/>
          </a:xfrm>
          <a:prstGeom prst="line">
            <a:avLst/>
          </a:prstGeom>
          <a:ln w="2540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3365500" y="1384300"/>
            <a:ext cx="2057400" cy="749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441700" y="1498600"/>
            <a:ext cx="1905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Controller
21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个控制器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118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个接口映射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365500" y="2400300"/>
            <a:ext cx="2057400" cy="749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441700" y="2501900"/>
            <a:ext cx="1905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业务编排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规则校验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365500" y="3403600"/>
            <a:ext cx="2057400" cy="749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441700" y="3505200"/>
            <a:ext cx="1905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Mapper
MyBatis-Plus / SQL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473700" y="1866900"/>
            <a:ext cx="6731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473700" y="2781300"/>
            <a:ext cx="6731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473700" y="3784600"/>
            <a:ext cx="6731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6197600" y="1447800"/>
            <a:ext cx="1828800" cy="8001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273800" y="1549400"/>
            <a:ext cx="16764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店铺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券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197600" y="2654300"/>
            <a:ext cx="1828800" cy="9271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273800" y="2755900"/>
            <a:ext cx="16764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会话、缓存、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ZSet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、限流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197600" y="3987800"/>
            <a:ext cx="1828800" cy="66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273800" y="4102100"/>
            <a:ext cx="16764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本地文件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图片上传与静态资源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940800" y="1841500"/>
            <a:ext cx="2082800" cy="7747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017000" y="1955800"/>
            <a:ext cx="1943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高德地图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
POI /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逆地理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周边搜索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940800" y="2997200"/>
            <a:ext cx="2082800" cy="7747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9017000" y="3111500"/>
            <a:ext cx="1943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API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对话生成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意图动作推荐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8089900" y="3086100"/>
            <a:ext cx="774700" cy="850900"/>
          </a:xfrm>
          <a:prstGeom prst="line">
            <a:avLst/>
          </a:prstGeom>
          <a:ln w="2032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089900" y="3086100"/>
            <a:ext cx="774700" cy="292100"/>
          </a:xfrm>
          <a:prstGeom prst="line">
            <a:avLst/>
          </a:prstGeom>
          <a:ln w="2032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787400" y="5232400"/>
            <a:ext cx="10464800" cy="4445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65200" y="5372100"/>
            <a:ext cx="99695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横切能力：</a:t>
            </a:r>
            <a:r>
              <a:rPr lang="en-US" alt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altLang="en-US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刷新拦截器、登录鉴权、</a:t>
            </a:r>
            <a:r>
              <a:rPr lang="en-US" alt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AOP </a:t>
            </a:r>
            <a:r>
              <a:rPr lang="zh-CN" altLang="en-US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限流、全局异常处理、环境变量化配置</a:t>
            </a:r>
            <a:endParaRPr lang="zh-CN" altLang="en-US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05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数据库与数据对象设计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围绕用户、店铺、内容、优惠券和运营审核建立扩展模型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889500" y="2336800"/>
            <a:ext cx="2108200" cy="9144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43500" y="2616200"/>
            <a:ext cx="1600200" cy="276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HMDP </a:t>
            </a:r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数据中心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60400" y="1168400"/>
            <a:ext cx="2578100" cy="12446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00100" y="1320800"/>
            <a:ext cx="10922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3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用户域</a:t>
            </a:r>
            <a:endParaRPr lang="zh-CN" altLang="en-US" sz="13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0100" y="1625600"/>
            <a:ext cx="2146300" cy="5994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tb_user
tb_user_info
tb_user_role
tb_privacy_setting</a:t>
            </a:r>
            <a:endParaRPr lang="en-US" altLang="en-US" sz="9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60400" y="4000500"/>
            <a:ext cx="2578100" cy="12446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00100" y="4152900"/>
            <a:ext cx="10922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3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店铺域</a:t>
            </a:r>
            <a:endParaRPr lang="zh-CN" altLang="en-US" sz="13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0100" y="4457700"/>
            <a:ext cx="2146300" cy="59944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tb_shop
tb_shop_type
tb_shop_extend
tb_shop_member</a:t>
            </a:r>
            <a:endParaRPr lang="en-US" altLang="en-US" sz="9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801100" y="1079500"/>
            <a:ext cx="2578100" cy="12446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40800" y="1219200"/>
            <a:ext cx="10922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3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内容域</a:t>
            </a:r>
            <a:endParaRPr lang="zh-CN" altLang="en-US" sz="13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40800" y="1536700"/>
            <a:ext cx="2146300" cy="737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tb_blog
tb_blog_comments
tb_follow
tb_favorites
tb_browse_history</a:t>
            </a:r>
            <a:endParaRPr lang="en-US" altLang="en-US" sz="9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801100" y="4000500"/>
            <a:ext cx="2578100" cy="12446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940800" y="4152900"/>
            <a:ext cx="10922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3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交易域</a:t>
            </a:r>
            <a:endParaRPr lang="zh-CN" altLang="en-US" sz="13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40800" y="4457700"/>
            <a:ext cx="2146300" cy="46101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tb_voucher
tb_seckill_voucher
tb_voucher_order</a:t>
            </a:r>
            <a:endParaRPr lang="en-US" altLang="en-US" sz="9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038600" y="4584700"/>
            <a:ext cx="2578100" cy="1244600"/>
          </a:xfrm>
          <a:prstGeom prst="roundRect">
            <a:avLst/>
          </a:prstGeom>
          <a:solidFill>
            <a:srgbClr val="EEF0F2"/>
          </a:solidFill>
          <a:ln w="12700" cap="flat" cmpd="sng" algn="ctr">
            <a:solidFill>
              <a:srgbClr val="0E7C7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191000" y="4737100"/>
            <a:ext cx="10922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3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审核域</a:t>
            </a:r>
            <a:endParaRPr lang="zh-CN" altLang="en-US" sz="13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91000" y="5041900"/>
            <a:ext cx="2146300" cy="46101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tb_merchant_application
tb_shop_claim_application
tb_shop_create_application</a:t>
            </a:r>
            <a:endParaRPr lang="en-US" altLang="en-US" sz="9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860800" y="1028700"/>
            <a:ext cx="10541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000500" y="1193800"/>
            <a:ext cx="7620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FF6B5C"/>
                </a:solidFill>
                <a:latin typeface="Microsoft YaHei UI" panose="020B0503020204020204" charset="-122"/>
                <a:ea typeface="Microsoft YaHei UI" panose="020B0503020204020204" charset="-122"/>
              </a:rPr>
              <a:t>35</a:t>
            </a:r>
            <a:endParaRPr lang="en-US" altLang="en-US" sz="2500" b="1">
              <a:solidFill>
                <a:srgbClr val="FF6B5C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62400" y="1676400"/>
            <a:ext cx="838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建表脚本覆盖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5143500" y="1028700"/>
            <a:ext cx="10541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283200" y="1193800"/>
            <a:ext cx="7620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1BA78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</a:t>
            </a:r>
            <a:endParaRPr lang="en-US" altLang="en-US" sz="2500" b="1">
              <a:solidFill>
                <a:srgbClr val="1BA78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45100" y="1676400"/>
            <a:ext cx="838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核心业务域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413500" y="1028700"/>
            <a:ext cx="10541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565900" y="1193800"/>
            <a:ext cx="762000" cy="81470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F2B84B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Redis</a:t>
            </a:r>
            <a:endParaRPr lang="en-US" altLang="en-US" sz="2500" b="1">
              <a:solidFill>
                <a:srgbClr val="F2B84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27800" y="1676400"/>
            <a:ext cx="838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缓存与队列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06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阶段成果与开发进度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中期阶段已具备可演示主流程，后续集中补强质量与交付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60400" y="1219200"/>
            <a:ext cx="1828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0100" y="1384300"/>
            <a:ext cx="1536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1BA784"/>
                </a:solidFill>
                <a:latin typeface="Microsoft YaHei UI" panose="020B0503020204020204" charset="-122"/>
                <a:ea typeface="Microsoft YaHei UI" panose="020B0503020204020204" charset="-122"/>
              </a:rPr>
              <a:t>173</a:t>
            </a:r>
            <a:endParaRPr lang="en-US" altLang="en-US" sz="2500" b="1">
              <a:solidFill>
                <a:srgbClr val="1BA78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1879600"/>
            <a:ext cx="1612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Java 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755900" y="1219200"/>
            <a:ext cx="1828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908300" y="1384300"/>
            <a:ext cx="1536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FF6B5C"/>
                </a:solidFill>
                <a:latin typeface="Microsoft YaHei UI" panose="020B0503020204020204" charset="-122"/>
                <a:ea typeface="Microsoft YaHei UI" panose="020B0503020204020204" charset="-122"/>
              </a:rPr>
              <a:t>118</a:t>
            </a:r>
            <a:endParaRPr lang="en-US" altLang="en-US" sz="2500" b="1">
              <a:solidFill>
                <a:srgbClr val="FF6B5C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70200" y="1879600"/>
            <a:ext cx="1612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接口映射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64100" y="1219200"/>
            <a:ext cx="1828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16500" y="1384300"/>
            <a:ext cx="1536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F2B84B"/>
                </a:solidFill>
                <a:latin typeface="Microsoft YaHei UI" panose="020B0503020204020204" charset="-122"/>
                <a:ea typeface="Microsoft YaHei UI" panose="020B0503020204020204" charset="-122"/>
              </a:rPr>
              <a:t>28</a:t>
            </a:r>
            <a:endParaRPr lang="en-US" altLang="en-US" sz="2500" b="1">
              <a:solidFill>
                <a:srgbClr val="F2B84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78400" y="1879600"/>
            <a:ext cx="1612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前端页面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972300" y="1219200"/>
            <a:ext cx="1828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112000" y="1384300"/>
            <a:ext cx="1536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0E7C7B"/>
                </a:solidFill>
                <a:latin typeface="Microsoft YaHei UI" panose="020B0503020204020204" charset="-122"/>
                <a:ea typeface="Microsoft YaHei UI" panose="020B0503020204020204" charset="-122"/>
              </a:rPr>
              <a:t>18</a:t>
            </a:r>
            <a:endParaRPr lang="en-US" altLang="en-US" sz="2500" b="1">
              <a:solidFill>
                <a:srgbClr val="0E7C7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73900" y="1879600"/>
            <a:ext cx="1612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测试类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9321800" y="1219200"/>
            <a:ext cx="1905000" cy="10287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550400" y="1536700"/>
            <a:ext cx="1422400" cy="4457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已进入联调与验收阶段</a:t>
            </a:r>
            <a:endParaRPr lang="zh-CN" altLang="en-US" sz="13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87400" y="2882900"/>
            <a:ext cx="10350500" cy="2362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66800" y="3187700"/>
            <a:ext cx="2286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账户认证与个人中心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390900" y="3213100"/>
            <a:ext cx="6261100" cy="114300"/>
          </a:xfrm>
          <a:prstGeom prst="roundRect">
            <a:avLst/>
          </a:prstGeom>
          <a:solidFill>
            <a:srgbClr val="E9EE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3390900" y="3213100"/>
            <a:ext cx="5638800" cy="114300"/>
          </a:xfrm>
          <a:prstGeom prst="round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791700" y="3175000"/>
            <a:ext cx="4572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90%</a:t>
            </a:r>
            <a:endParaRPr lang="en-US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66800" y="3543300"/>
            <a:ext cx="2286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店铺详情、搜索、地图周边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390900" y="3581400"/>
            <a:ext cx="6261100" cy="114300"/>
          </a:xfrm>
          <a:prstGeom prst="roundRect">
            <a:avLst/>
          </a:prstGeom>
          <a:solidFill>
            <a:srgbClr val="E9EE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3390900" y="3581400"/>
            <a:ext cx="5321300" cy="114300"/>
          </a:xfrm>
          <a:prstGeom prst="round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791700" y="3543300"/>
            <a:ext cx="4572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85%</a:t>
            </a:r>
            <a:endParaRPr lang="en-US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6800" y="3911600"/>
            <a:ext cx="2286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优惠券、秒杀、订单状态流转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390900" y="3949700"/>
            <a:ext cx="6261100" cy="114300"/>
          </a:xfrm>
          <a:prstGeom prst="roundRect">
            <a:avLst/>
          </a:prstGeom>
          <a:solidFill>
            <a:srgbClr val="E9EE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3390900" y="3949700"/>
            <a:ext cx="5130800" cy="114300"/>
          </a:xfrm>
          <a:prstGeom prst="round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791700" y="3898900"/>
            <a:ext cx="4572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82%</a:t>
            </a:r>
            <a:endParaRPr lang="en-US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66800" y="4279900"/>
            <a:ext cx="2286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笔记、评论、点赞、关注与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feed</a:t>
            </a:r>
            <a:endParaRPr lang="en-US" altLang="zh-CN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390900" y="4318000"/>
            <a:ext cx="6261100" cy="114300"/>
          </a:xfrm>
          <a:prstGeom prst="roundRect">
            <a:avLst/>
          </a:prstGeom>
          <a:solidFill>
            <a:srgbClr val="E9EE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3390900" y="4318000"/>
            <a:ext cx="5016500" cy="114300"/>
          </a:xfrm>
          <a:prstGeom prst="round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791700" y="4267200"/>
            <a:ext cx="4572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80%</a:t>
            </a:r>
            <a:endParaRPr lang="en-US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066800" y="4648200"/>
            <a:ext cx="2286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商家入驻、审核、券管理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390900" y="4686300"/>
            <a:ext cx="6261100" cy="114300"/>
          </a:xfrm>
          <a:prstGeom prst="roundRect">
            <a:avLst/>
          </a:prstGeom>
          <a:solidFill>
            <a:srgbClr val="E9EE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3390900" y="4686300"/>
            <a:ext cx="4889500" cy="114300"/>
          </a:xfrm>
          <a:prstGeom prst="round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791700" y="4635500"/>
            <a:ext cx="4572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78%</a:t>
            </a:r>
            <a:endParaRPr lang="en-US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66800" y="5016500"/>
            <a:ext cx="2286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自动化测试、压测、部署文档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90900" y="5041900"/>
            <a:ext cx="6261100" cy="114300"/>
          </a:xfrm>
          <a:prstGeom prst="roundRect">
            <a:avLst/>
          </a:prstGeom>
          <a:solidFill>
            <a:srgbClr val="E9EE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3390900" y="5041900"/>
            <a:ext cx="3441700" cy="114300"/>
          </a:xfrm>
          <a:prstGeom prst="round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9791700" y="5003800"/>
            <a:ext cx="4572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55%</a:t>
            </a:r>
            <a:endParaRPr lang="en-US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66800" y="5448300"/>
            <a:ext cx="7315200" cy="16827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8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注：进度为中期估算，依据代码、页面与测试现状，用于汇报展示。</a:t>
            </a:r>
            <a:endParaRPr lang="zh-CN" altLang="en-US" sz="8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07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核心实现一：登录认证与会话续期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Redis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替代服务端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Session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，支撑分布式访问与单端登录控制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49300" y="2006600"/>
            <a:ext cx="1600200" cy="6223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25500" y="2120900"/>
            <a:ext cx="1447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密码或验证码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400300" y="2324100"/>
            <a:ext cx="508000" cy="635"/>
          </a:xfrm>
          <a:prstGeom prst="line">
            <a:avLst/>
          </a:prstGeom>
          <a:ln w="2540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2959100" y="2006600"/>
            <a:ext cx="1600200" cy="622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35300" y="2120900"/>
            <a:ext cx="1447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校验用户与验证码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610100" y="2324100"/>
            <a:ext cx="5080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181600" y="2006600"/>
            <a:ext cx="1320800" cy="6223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245100" y="2120900"/>
            <a:ext cx="11811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553200" y="2324100"/>
            <a:ext cx="5080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7112000" y="2006600"/>
            <a:ext cx="1828800" cy="6223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188200" y="2120900"/>
            <a:ext cx="16764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Hash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保存用户信息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991600" y="2324100"/>
            <a:ext cx="508000" cy="635"/>
          </a:xfrm>
          <a:prstGeom prst="line">
            <a:avLst/>
          </a:prstGeom>
          <a:ln w="2540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9550400" y="2006600"/>
            <a:ext cx="1600200" cy="6223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626600" y="2120900"/>
            <a:ext cx="1447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拦截器刷新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TTL</a:t>
            </a:r>
            <a:endParaRPr lang="en-US" altLang="zh-CN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25500" y="3670300"/>
            <a:ext cx="32004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25500" y="3670300"/>
            <a:ext cx="76200" cy="12065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8700" y="3835400"/>
            <a:ext cx="28575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Redis Key </a:t>
            </a:r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设计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8700" y="4203700"/>
            <a:ext cx="28575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login:code:{phone}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存验证码；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login:token:{token}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存用户摘要；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login:user:{id}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记录当前活跃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483100" y="3670300"/>
            <a:ext cx="32004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483100" y="3670300"/>
            <a:ext cx="76200" cy="12065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686300" y="3835400"/>
            <a:ext cx="28575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安全控制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86300" y="4203700"/>
            <a:ext cx="28575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登录成功后清理旧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；请求进入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RefreshTokenInterceptor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自动续期；未登录接口由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LoginInterceptor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拦截。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8140700" y="3670300"/>
            <a:ext cx="30226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140700" y="3670300"/>
            <a:ext cx="76200" cy="12065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343900" y="3835400"/>
            <a:ext cx="2667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中期价值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343900" y="4203700"/>
            <a:ext cx="2667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认证状态从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JVM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内存迁移到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Redis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，便于多实例扩展，也方便后续做在线用户、踢下线等能力。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08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核心实现二：店铺缓存、搜索与地图周边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以缓存降读压，以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GEO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与高德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扩展附近商家能力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49300" y="1295400"/>
            <a:ext cx="3124200" cy="425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03300" y="1600200"/>
            <a:ext cx="1193800" cy="2914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缓存策略</a:t>
            </a:r>
            <a:endParaRPr lang="zh-CN" altLang="en-US" sz="16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3300" y="2108200"/>
            <a:ext cx="2425700" cy="78422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缓存空值：防止穿透</a:t>
            </a:r>
            <a:r>
              <a:rPr lang="en-US" altLang="zh-CN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互斥锁：重建热点店铺缓存</a:t>
            </a:r>
            <a:r>
              <a:rPr lang="en-US" altLang="zh-CN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逻辑过期：降低击穿影响</a:t>
            </a:r>
            <a:r>
              <a:rPr lang="en-US" altLang="zh-CN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TTL </a:t>
            </a:r>
            <a:r>
              <a:rPr lang="zh-CN" altLang="en-US" sz="12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抖动：缓解同刻过期雪崩</a:t>
            </a:r>
            <a:endParaRPr lang="zh-CN" altLang="en-US" sz="12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003300" y="4038600"/>
            <a:ext cx="2171700" cy="4953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55700" y="4203700"/>
            <a:ext cx="18415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CacheClient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封装通用模板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483100" y="1295400"/>
            <a:ext cx="3124200" cy="425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37100" y="1600200"/>
            <a:ext cx="1193800" cy="2914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附近搜索</a:t>
            </a:r>
            <a:endParaRPr lang="zh-CN" altLang="en-US" sz="16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737100" y="2159000"/>
            <a:ext cx="914400" cy="4064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813300" y="2273300"/>
            <a:ext cx="7620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用户坐标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689600" y="2362200"/>
            <a:ext cx="431800" cy="635"/>
          </a:xfrm>
          <a:prstGeom prst="line">
            <a:avLst/>
          </a:prstGeom>
          <a:ln w="2032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6172200" y="2159000"/>
            <a:ext cx="965200" cy="4064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248400" y="2273300"/>
            <a:ext cx="812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Redis GEO</a:t>
            </a:r>
            <a:endParaRPr lang="en-US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168900" y="2921000"/>
            <a:ext cx="1739900" cy="6604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245100" y="3035300"/>
            <a:ext cx="15875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按类型半径检索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返回距离排序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37100" y="3987800"/>
            <a:ext cx="23622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shop:geo:{typeId} 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维护门店坐标；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ShopNearbySupport 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QuerySupport 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负责距离、分页和兜底。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8216900" y="1295400"/>
            <a:ext cx="3124200" cy="425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470900" y="1600200"/>
            <a:ext cx="1193800" cy="2914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高德增强</a:t>
            </a:r>
            <a:endParaRPr lang="zh-CN" altLang="en-US" sz="16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458200" y="2108200"/>
            <a:ext cx="965200" cy="3810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534400" y="2209800"/>
            <a:ext cx="812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地图配置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740900" y="2108200"/>
            <a:ext cx="965200" cy="3810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817100" y="2209800"/>
            <a:ext cx="812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458200" y="2781300"/>
            <a:ext cx="965200" cy="3810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534400" y="2895600"/>
            <a:ext cx="812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逆地理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740900" y="2781300"/>
            <a:ext cx="965200" cy="381000"/>
          </a:xfrm>
          <a:prstGeom prst="roundRect">
            <a:avLst/>
          </a:prstGeom>
          <a:solidFill>
            <a:srgbClr val="EEF0F2"/>
          </a:solidFill>
          <a:ln w="12700" cap="flat" cmpd="sng" algn="ctr">
            <a:solidFill>
              <a:srgbClr val="0E7C7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817100" y="2895600"/>
            <a:ext cx="812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同步入库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458200" y="3822700"/>
            <a:ext cx="2298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POI 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与本地商家模型解耦，既能查询实时周边，也能逐步沉淀到平台数据。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09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核心实现三：优惠券秒杀与订单流转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Lua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原子校验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Redis Stream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异步消费，降低数据库瞬时压力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168400" y="1587500"/>
            <a:ext cx="495300" cy="4953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20800" y="1739900"/>
            <a:ext cx="203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1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60400" y="2235200"/>
            <a:ext cx="15367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00100" y="2463800"/>
            <a:ext cx="1244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用户抢券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0100" y="2806700"/>
            <a:ext cx="12446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voucher-order/seckill/{id}</a:t>
            </a:r>
            <a:endParaRPr lang="en-US" altLang="zh-CN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286000" y="2819400"/>
            <a:ext cx="520700" cy="635"/>
          </a:xfrm>
          <a:prstGeom prst="line">
            <a:avLst/>
          </a:prstGeom>
          <a:ln w="2286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429000" y="1587500"/>
            <a:ext cx="495300" cy="4953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581400" y="1739900"/>
            <a:ext cx="203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2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921000" y="2235200"/>
            <a:ext cx="15367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60700" y="2463800"/>
            <a:ext cx="1244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Lua </a:t>
            </a:r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原子判断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60700" y="2806700"/>
            <a:ext cx="12446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 0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且一人一单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546600" y="2819400"/>
            <a:ext cx="520700" cy="635"/>
          </a:xfrm>
          <a:prstGeom prst="line">
            <a:avLst/>
          </a:prstGeom>
          <a:ln w="2286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5689600" y="1587500"/>
            <a:ext cx="495300" cy="4953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829300" y="1739900"/>
            <a:ext cx="203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3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181600" y="2235200"/>
            <a:ext cx="15367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321300" y="2463800"/>
            <a:ext cx="1244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写入</a:t>
            </a:r>
            <a:r>
              <a:rPr lang="en-US" altLang="zh-CN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Stream</a:t>
            </a:r>
            <a:endParaRPr lang="en-US" altLang="zh-CN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21300" y="2806700"/>
            <a:ext cx="12446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stream.orders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进入异步队列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807200" y="2819400"/>
            <a:ext cx="520700" cy="635"/>
          </a:xfrm>
          <a:prstGeom prst="line">
            <a:avLst/>
          </a:prstGeom>
          <a:ln w="22860">
            <a:solidFill>
              <a:srgbClr val="F2B84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7950200" y="1587500"/>
            <a:ext cx="495300" cy="4953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089900" y="1739900"/>
            <a:ext cx="203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4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429500" y="2235200"/>
            <a:ext cx="15367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581900" y="2463800"/>
            <a:ext cx="1244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后台消费者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81900" y="2806700"/>
            <a:ext cx="12446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读取消息并处理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pending-list</a:t>
            </a:r>
            <a:endParaRPr lang="en-US" altLang="zh-CN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9067800" y="2819400"/>
            <a:ext cx="520700" cy="635"/>
          </a:xfrm>
          <a:prstGeom prst="line">
            <a:avLst/>
          </a:prstGeom>
          <a:ln w="22860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10210800" y="1587500"/>
            <a:ext cx="495300" cy="4953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0350500" y="1739900"/>
            <a:ext cx="2032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5</a:t>
            </a:r>
            <a:endParaRPr lang="en-US" altLang="en-US" sz="10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690100" y="2235200"/>
            <a:ext cx="15367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842500" y="2463800"/>
            <a:ext cx="1244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事务落库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842500" y="2806700"/>
            <a:ext cx="12446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扣库存、创建订单、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endParaRPr lang="en-US" altLang="zh-CN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25500" y="4406900"/>
            <a:ext cx="31496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825500" y="4406900"/>
            <a:ext cx="76200" cy="10033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028700" y="4572000"/>
            <a:ext cx="2806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关键约束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28700" y="4940300"/>
            <a:ext cx="2806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Set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记录已下单用户，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Lua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脚本一次性完成库存判断、重复下单判断、扣减和消息投递。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406900" y="4406900"/>
            <a:ext cx="31496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406900" y="4406900"/>
            <a:ext cx="76200" cy="10033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610100" y="4572000"/>
            <a:ext cx="2806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订单状态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610100" y="4940300"/>
            <a:ext cx="2806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支持待支付、已支付、已使用、已取消、退款等状态，并提供用户端与商家端查询。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001000" y="4406900"/>
            <a:ext cx="30607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8001000" y="4406900"/>
            <a:ext cx="76200" cy="10033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04200" y="4572000"/>
            <a:ext cx="27178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失败兜底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204200" y="4940300"/>
            <a:ext cx="27178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消费者异常时处理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pending-list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；数据库事务保证库存与订单数据一致。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核心实现四：内容社区与用户关系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ZSet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和隐私设置提升用户粘性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36600" y="1257300"/>
            <a:ext cx="5029200" cy="449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90600" y="1574800"/>
            <a:ext cx="1422400" cy="2914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内容互动链路</a:t>
            </a:r>
            <a:endParaRPr lang="zh-CN" altLang="en-US" sz="16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990600" y="2197100"/>
            <a:ext cx="1295400" cy="4572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66800" y="2298700"/>
            <a:ext cx="11557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发布探店笔记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336800" y="2425700"/>
            <a:ext cx="419100" cy="635"/>
          </a:xfrm>
          <a:prstGeom prst="line">
            <a:avLst/>
          </a:prstGeom>
          <a:ln w="2032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2819400" y="2197100"/>
            <a:ext cx="1295400" cy="4572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95600" y="2298700"/>
            <a:ext cx="11557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Feed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推送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165600" y="2425700"/>
            <a:ext cx="419100" cy="635"/>
          </a:xfrm>
          <a:prstGeom prst="line">
            <a:avLst/>
          </a:prstGeom>
          <a:ln w="2032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4648200" y="2197100"/>
            <a:ext cx="749300" cy="457200"/>
          </a:xfrm>
          <a:prstGeom prst="roundRect">
            <a:avLst/>
          </a:prstGeom>
          <a:solidFill>
            <a:srgbClr val="FFF2CF"/>
          </a:solidFill>
          <a:ln w="12700" cap="flat" cmpd="sng" algn="ctr">
            <a:solidFill>
              <a:srgbClr val="F2B84B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724400" y="2298700"/>
            <a:ext cx="6096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滚动分页浏览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0600" y="3200400"/>
            <a:ext cx="4114800" cy="38417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点赞使用</a:t>
            </a:r>
            <a:r>
              <a:rPr lang="en-US" altLang="zh-CN" sz="11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blog:liked:{id} </a:t>
            </a:r>
            <a:r>
              <a:rPr lang="zh-CN" altLang="en-US" sz="11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1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ZSet </a:t>
            </a:r>
            <a:r>
              <a:rPr lang="zh-CN" altLang="en-US" sz="11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保存用户与时间分数，既能判断是否点赞，也能按时间取前排点赞用户。</a:t>
            </a:r>
            <a:endParaRPr lang="zh-CN" altLang="en-US" sz="11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0600" y="4038600"/>
            <a:ext cx="4114800" cy="38417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评论支持楼中楼回复、评论点赞与删除校验，形成完整社区互动闭环。</a:t>
            </a:r>
            <a:endParaRPr lang="zh-CN" altLang="en-US" sz="11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388100" y="1257300"/>
            <a:ext cx="4889500" cy="44958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705600" y="1574800"/>
            <a:ext cx="1651000" cy="2914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6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用户沉淀能力</a:t>
            </a:r>
            <a:endParaRPr lang="zh-CN" altLang="en-US" sz="16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718300" y="2120900"/>
            <a:ext cx="17780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718300" y="2120900"/>
            <a:ext cx="76200" cy="10033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921500" y="2286000"/>
            <a:ext cx="14351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关注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21500" y="2654300"/>
            <a:ext cx="1435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互关、共同关注、粉丝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关注列表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915400" y="2120900"/>
            <a:ext cx="17780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915400" y="2120900"/>
            <a:ext cx="76200" cy="10033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118600" y="2286000"/>
            <a:ext cx="14351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收藏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118600" y="2654300"/>
            <a:ext cx="1435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店铺与笔记收藏，防重复约束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718300" y="3454400"/>
            <a:ext cx="17780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718300" y="3454400"/>
            <a:ext cx="76200" cy="10033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921500" y="3619500"/>
            <a:ext cx="14351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足迹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921500" y="3987800"/>
            <a:ext cx="1435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ZSet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保留近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条浏览历史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915400" y="3454400"/>
            <a:ext cx="1778000" cy="10033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915400" y="3454400"/>
            <a:ext cx="76200" cy="10033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118600" y="3619500"/>
            <a:ext cx="14351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隐私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118600" y="3987800"/>
            <a:ext cx="1435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控制关注、粉丝、收藏列表可见性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743700" y="4978400"/>
            <a:ext cx="37465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</a:rPr>
              <a:t>消息模块向收藏店铺用户推送门店更新，并缓存未读数，支撑后续运营触达。</a:t>
            </a:r>
            <a:endParaRPr lang="zh-CN" altLang="en-US" sz="1000">
              <a:solidFill>
                <a:srgbClr val="DDF3E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11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商家入驻与运营审核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补齐平台业务闭环：从用户内容平台扩展到商家经营后台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25500" y="1384300"/>
            <a:ext cx="10502900" cy="9271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92200" y="1701800"/>
            <a:ext cx="9144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入驻申请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146300" y="1841500"/>
            <a:ext cx="647700" cy="635"/>
          </a:xfrm>
          <a:prstGeom prst="line">
            <a:avLst/>
          </a:prstGeom>
          <a:ln w="20320">
            <a:solidFill>
              <a:srgbClr val="DDF3E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32100" y="1701800"/>
            <a:ext cx="10033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管理员审核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025900" y="1841500"/>
            <a:ext cx="635000" cy="635"/>
          </a:xfrm>
          <a:prstGeom prst="line">
            <a:avLst/>
          </a:prstGeom>
          <a:ln w="20320">
            <a:solidFill>
              <a:srgbClr val="DDF3E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11700" y="1701800"/>
            <a:ext cx="15113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绑定门店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创建门店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350000" y="1841500"/>
            <a:ext cx="647700" cy="635"/>
          </a:xfrm>
          <a:prstGeom prst="line">
            <a:avLst/>
          </a:prstGeom>
          <a:ln w="20320">
            <a:solidFill>
              <a:srgbClr val="DDF3E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061200" y="1701800"/>
            <a:ext cx="10795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发布优惠券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8280400" y="1841500"/>
            <a:ext cx="635000" cy="635"/>
          </a:xfrm>
          <a:prstGeom prst="line">
            <a:avLst/>
          </a:prstGeom>
          <a:ln w="20320">
            <a:solidFill>
              <a:srgbClr val="DDF3E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978900" y="1701800"/>
            <a:ext cx="9652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核销订单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63600" y="2959100"/>
            <a:ext cx="23749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63600" y="2959100"/>
            <a:ext cx="76200" cy="14224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66800" y="3124200"/>
            <a:ext cx="2032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商家申请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66800" y="3492500"/>
            <a:ext cx="20320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tb_merchant_application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保存入驻资料与审核状态；通过后写入角色与商家身份。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543300" y="2959100"/>
            <a:ext cx="23749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543300" y="2959100"/>
            <a:ext cx="76200" cy="14224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746500" y="3124200"/>
            <a:ext cx="2032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门店认领</a:t>
            </a:r>
            <a:r>
              <a:rPr lang="en-US" altLang="zh-CN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新建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46500" y="3492500"/>
            <a:ext cx="20320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支持对已有门店发起认领，也支持商家提交新店创建申请，管理员统一处理。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235700" y="2959100"/>
            <a:ext cx="23749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235700" y="2959100"/>
            <a:ext cx="76200" cy="14224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438900" y="3124200"/>
            <a:ext cx="20320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优惠券经营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38900" y="3492500"/>
            <a:ext cx="20320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商家维护券信息，发布时同步秒杀库存到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Redis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；下架时清理缓存库存。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8915400" y="2959100"/>
            <a:ext cx="21463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915400" y="2959100"/>
            <a:ext cx="76200" cy="14224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118600" y="3124200"/>
            <a:ext cx="18034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订单核销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118600" y="3492500"/>
            <a:ext cx="18034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商家端按门店查看券订单，通过核销码完成线下消费闭环。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17600" y="5232400"/>
            <a:ext cx="9321800" cy="2457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300" b="1">
                <a:solidFill>
                  <a:srgbClr val="17211F"/>
                </a:solidFill>
                <a:latin typeface="微软雅黑" panose="020B0503020204020204" charset="-122"/>
                <a:ea typeface="微软雅黑" panose="020B0503020204020204" charset="-122"/>
              </a:rPr>
              <a:t>中期价值：把用户侧点评系统升级为具备商家供给、平台审核和交易履约能力的综合本地生活系统。</a:t>
            </a:r>
            <a:endParaRPr lang="zh-CN" altLang="en-US" sz="1300" b="1">
              <a:solidFill>
                <a:srgbClr val="1721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AI </a:t>
            </a:r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助手与智能搜索增强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</a:t>
            </a:r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负责自然语言理解，高德地图负责位置语义，后端做动作路由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00100" y="1295400"/>
            <a:ext cx="3111500" cy="42799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17600" y="1701800"/>
            <a:ext cx="13208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用户自然语言</a:t>
            </a:r>
            <a:endParaRPr lang="zh-CN" altLang="en-US" sz="14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17600" y="2209800"/>
            <a:ext cx="2298700" cy="87630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</a:rPr>
              <a:t>帮我找附近评分高的咖啡店，看看有没有优惠券。</a:t>
            </a:r>
            <a:endParaRPr lang="zh-CN" altLang="en-US" b="1">
              <a:solidFill>
                <a:srgbClr val="DDF3E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7600" y="4191000"/>
            <a:ext cx="2336800" cy="38417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1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聊天接口同时返回</a:t>
            </a:r>
            <a:r>
              <a:rPr lang="en-US" altLang="zh-CN" sz="11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reply </a:t>
            </a:r>
            <a:r>
              <a:rPr lang="zh-CN" altLang="en-US" sz="11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1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actions</a:t>
            </a:r>
            <a:r>
              <a:rPr lang="zh-CN" altLang="en-US" sz="1100">
                <a:solidFill>
                  <a:srgbClr val="BBD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，前端可直接渲染跳转按钮。</a:t>
            </a:r>
            <a:endParaRPr lang="zh-CN" altLang="en-US" sz="1100">
              <a:solidFill>
                <a:srgbClr val="BBD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064000" y="2946400"/>
            <a:ext cx="673100" cy="635"/>
          </a:xfrm>
          <a:prstGeom prst="line">
            <a:avLst/>
          </a:prstGeom>
          <a:ln w="25400">
            <a:solidFill>
              <a:srgbClr val="FF6B5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4800600" y="2438400"/>
            <a:ext cx="2374900" cy="1003300"/>
          </a:xfrm>
          <a:prstGeom prst="roundRect">
            <a:avLst/>
          </a:prstGeom>
          <a:solidFill>
            <a:srgbClr val="FFE7E1"/>
          </a:solidFill>
          <a:ln w="12700" cap="flat" cmpd="sng" algn="ctr">
            <a:solidFill>
              <a:srgbClr val="FF6B5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876800" y="2540000"/>
            <a:ext cx="22352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AssistantRoutingSupport
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关键词清洗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</a:t>
            </a:r>
            <a:r>
              <a:rPr lang="en-US" altLang="zh-CN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0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动作组合</a:t>
            </a:r>
            <a:endParaRPr lang="zh-CN" altLang="en-US" sz="10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264400" y="2946400"/>
            <a:ext cx="647700" cy="838200"/>
          </a:xfrm>
          <a:prstGeom prst="line">
            <a:avLst/>
          </a:prstGeom>
          <a:ln w="20320">
            <a:solidFill>
              <a:srgbClr val="1BA78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264400" y="2946400"/>
            <a:ext cx="647700" cy="787400"/>
          </a:xfrm>
          <a:prstGeom prst="line">
            <a:avLst/>
          </a:prstGeom>
          <a:ln w="20320">
            <a:solidFill>
              <a:srgbClr val="F2B84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8001000" y="1536700"/>
            <a:ext cx="2654300" cy="1092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001000" y="1536700"/>
            <a:ext cx="76200" cy="10922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204200" y="1701800"/>
            <a:ext cx="2298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en-US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DeepSeekChat</a:t>
            </a:r>
            <a:endParaRPr lang="en-US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04200" y="2070100"/>
            <a:ext cx="2298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生成自然语言回复，增强对话体验；失败时使用本地路由兜底。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001000" y="3314700"/>
            <a:ext cx="2654300" cy="1092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001000" y="3314700"/>
            <a:ext cx="76200" cy="10922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204200" y="3479800"/>
            <a:ext cx="2298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搜索与地图动作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04200" y="3835400"/>
            <a:ext cx="2298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推荐跳转搜索页、优惠券页、订单页或写笔记页，并带上关键词参数。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749800" y="4749800"/>
            <a:ext cx="59309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991100" y="4953000"/>
            <a:ext cx="5346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相关接口：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/assistant/chat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/assistant/chat/stream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/search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/map/nearby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/map/search</a:t>
            </a:r>
            <a:endParaRPr lang="en-US" altLang="zh-CN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13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测试与质量保障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围绕高风险模块做单测，后续补充端到端与压测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11200" y="1257300"/>
            <a:ext cx="1574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3600" y="1422400"/>
            <a:ext cx="1282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1BA784"/>
                </a:solidFill>
                <a:latin typeface="Microsoft YaHei UI" panose="020B0503020204020204" charset="-122"/>
                <a:ea typeface="Microsoft YaHei UI" panose="020B0503020204020204" charset="-122"/>
              </a:rPr>
              <a:t>18</a:t>
            </a:r>
            <a:endParaRPr lang="en-US" altLang="en-US" sz="2500" b="1">
              <a:solidFill>
                <a:srgbClr val="1BA78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5500" y="1917700"/>
            <a:ext cx="1358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测试类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578100" y="1257300"/>
            <a:ext cx="1574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30500" y="1422400"/>
            <a:ext cx="1282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FF6B5C"/>
                </a:solidFill>
                <a:latin typeface="Microsoft YaHei UI" panose="020B0503020204020204" charset="-122"/>
                <a:ea typeface="Microsoft YaHei UI" panose="020B0503020204020204" charset="-122"/>
              </a:rPr>
              <a:t>1,403</a:t>
            </a:r>
            <a:endParaRPr lang="en-US" altLang="en-US" sz="2500" b="1">
              <a:solidFill>
                <a:srgbClr val="FF6B5C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92400" y="1917700"/>
            <a:ext cx="1358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测试代码行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45000" y="1257300"/>
            <a:ext cx="1574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84700" y="1422400"/>
            <a:ext cx="1282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F2B84B"/>
                </a:solidFill>
                <a:latin typeface="Microsoft YaHei UI" panose="020B0503020204020204" charset="-122"/>
                <a:ea typeface="Microsoft YaHei UI" panose="020B0503020204020204" charset="-122"/>
              </a:rPr>
              <a:t>3</a:t>
            </a:r>
            <a:endParaRPr lang="en-US" altLang="en-US" sz="2500" b="1">
              <a:solidFill>
                <a:srgbClr val="F2B84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59300" y="1917700"/>
            <a:ext cx="1358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Lua 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311900" y="1257300"/>
            <a:ext cx="1574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51600" y="1422400"/>
            <a:ext cx="1282700" cy="42989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en-US" altLang="en-US" sz="2500" b="1">
                <a:solidFill>
                  <a:srgbClr val="0E7C7B"/>
                </a:solidFill>
                <a:latin typeface="Microsoft YaHei UI" panose="020B0503020204020204" charset="-122"/>
                <a:ea typeface="Microsoft YaHei UI" panose="020B0503020204020204" charset="-122"/>
              </a:rPr>
              <a:t>11k+</a:t>
            </a:r>
            <a:endParaRPr lang="en-US" altLang="en-US" sz="2500" b="1">
              <a:solidFill>
                <a:srgbClr val="0E7C7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13500" y="1917700"/>
            <a:ext cx="13589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后端代码行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483600" y="1257300"/>
            <a:ext cx="2489200" cy="10287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763000" y="1587500"/>
            <a:ext cx="18796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质量目标：先保核心链路，再扩展覆盖率</a:t>
            </a:r>
            <a:endParaRPr lang="zh-CN" altLang="en-US" sz="1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25500" y="2857500"/>
            <a:ext cx="2654300" cy="1447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25500" y="2857500"/>
            <a:ext cx="76200" cy="14478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8700" y="3022600"/>
            <a:ext cx="2298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已覆盖重点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8700" y="3378200"/>
            <a:ext cx="22987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用户登录与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刷新、秒杀订单、优惠券视图、地图搜索、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助手路由、搜索关键词、附近查询。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22700" y="2857500"/>
            <a:ext cx="2654300" cy="1447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822700" y="2857500"/>
            <a:ext cx="76200" cy="14478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025900" y="3022600"/>
            <a:ext cx="2298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质量机制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025900" y="3378200"/>
            <a:ext cx="2298700" cy="50736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全局异常处理、参数校验、事务回滚、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脚本原子性、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pending-list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兜底、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AOP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819900" y="2857500"/>
            <a:ext cx="2654300" cy="1447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819900" y="2857500"/>
            <a:ext cx="76200" cy="14478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023100" y="3022600"/>
            <a:ext cx="2298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下一步测试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23100" y="3378200"/>
            <a:ext cx="2298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</a:rPr>
              <a:t>补充接口集成测试、前端冒烟测试、秒杀并发压测、部署环境配置检查。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982200" y="2857500"/>
            <a:ext cx="990600" cy="1447800"/>
          </a:xfrm>
          <a:prstGeom prst="roundRect">
            <a:avLst/>
          </a:prstGeom>
          <a:solidFill>
            <a:srgbClr val="DDF3EA"/>
          </a:solidFill>
          <a:ln w="12700" cap="flat" cmpd="sng" algn="ctr">
            <a:solidFill>
              <a:srgbClr val="1BA78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0147300" y="3149600"/>
            <a:ext cx="660400" cy="72263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1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中期结论</a:t>
            </a:r>
            <a:r>
              <a:rPr lang="en-US" altLang="zh-CN" sz="11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100" b="1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核心链路已具备验收基础</a:t>
            </a:r>
            <a:endParaRPr lang="zh-CN" altLang="en-US" sz="1100" b="1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14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304800"/>
            <a:ext cx="76835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2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当前问题、风险与后续计划</a:t>
            </a:r>
            <a:endParaRPr lang="zh-CN" altLang="en-US" sz="2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700" y="825500"/>
            <a:ext cx="4940300" cy="1841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9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后半程目标：稳定、可部署、可演示、可答辩</a:t>
            </a:r>
            <a:endParaRPr lang="zh-CN" altLang="en-US" sz="9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023600" y="304800"/>
            <a:ext cx="203200" cy="2032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290300" y="304800"/>
            <a:ext cx="203200" cy="2032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569700" y="304800"/>
            <a:ext cx="203200" cy="2032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11200" y="1282700"/>
            <a:ext cx="31496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1200" y="1282700"/>
            <a:ext cx="76200" cy="1143000"/>
          </a:xfrm>
          <a:prstGeom prst="rect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14400" y="1447800"/>
            <a:ext cx="2806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问题一：稳定性验证不足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400" y="1816100"/>
            <a:ext cx="2806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秒杀、搜索、地图和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外部调用需要更多异常场景与并发压测。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83100" y="1282700"/>
            <a:ext cx="31496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83100" y="1282700"/>
            <a:ext cx="76200" cy="1143000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686300" y="1447800"/>
            <a:ext cx="28067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问题二：部署闭环未完成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86300" y="1816100"/>
            <a:ext cx="28067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数据库初始化、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Stream 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消费组、前端静态资源代理仍需形成一键化说明。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242300" y="1282700"/>
            <a:ext cx="2921000" cy="114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E5DE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242300" y="1282700"/>
            <a:ext cx="76200" cy="1143000"/>
          </a:xfrm>
          <a:prstGeom prst="rect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445500" y="1447800"/>
            <a:ext cx="2578100" cy="26098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4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问题三：安全配置需收口</a:t>
            </a:r>
            <a:endParaRPr lang="zh-CN" altLang="en-US" sz="14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45500" y="1816100"/>
            <a:ext cx="25781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</a:t>
            </a:r>
            <a:r>
              <a:rPr lang="en-US" altLang="zh-CN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Key</a:t>
            </a:r>
            <a:r>
              <a:rPr lang="zh-CN" altLang="en-US" sz="1000">
                <a:solidFill>
                  <a:srgbClr val="243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、数据库口令、跨域与上传限制需要完成脱敏与环境隔离。</a:t>
            </a:r>
            <a:endParaRPr lang="zh-CN" altLang="en-US" sz="1000">
              <a:solidFill>
                <a:srgbClr val="243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752600" y="3657600"/>
            <a:ext cx="381000" cy="3810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133600" y="3848100"/>
            <a:ext cx="1181100" cy="635"/>
          </a:xfrm>
          <a:prstGeom prst="line">
            <a:avLst/>
          </a:prstGeom>
          <a:ln w="19050">
            <a:solidFill>
              <a:srgbClr val="DDE5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028700" y="4229100"/>
            <a:ext cx="1879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第</a:t>
            </a:r>
            <a:r>
              <a:rPr lang="en-US" altLang="zh-CN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1 </a:t>
            </a:r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周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76300" y="4584700"/>
            <a:ext cx="21463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整理演示数据与数据库脚本，补齐部署文档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356100" y="3657600"/>
            <a:ext cx="381000" cy="3810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4749800" y="3848100"/>
            <a:ext cx="1168400" cy="635"/>
          </a:xfrm>
          <a:prstGeom prst="line">
            <a:avLst/>
          </a:prstGeom>
          <a:ln w="19050">
            <a:solidFill>
              <a:srgbClr val="DDE5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632200" y="4229100"/>
            <a:ext cx="1879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第</a:t>
            </a:r>
            <a:r>
              <a:rPr lang="en-US" altLang="zh-CN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2 </a:t>
            </a:r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周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79800" y="4584700"/>
            <a:ext cx="21463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补充接口集成测试、前端冒烟检查与异常兜底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972300" y="3657600"/>
            <a:ext cx="381000" cy="381000"/>
          </a:xfrm>
          <a:prstGeom prst="ellipse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7353300" y="3848100"/>
            <a:ext cx="1168400" cy="635"/>
          </a:xfrm>
          <a:prstGeom prst="line">
            <a:avLst/>
          </a:prstGeom>
          <a:ln w="19050">
            <a:solidFill>
              <a:srgbClr val="DDE5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235700" y="4229100"/>
            <a:ext cx="1879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第</a:t>
            </a:r>
            <a:r>
              <a:rPr lang="en-US" altLang="zh-CN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3 </a:t>
            </a:r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周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96000" y="4584700"/>
            <a:ext cx="21463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完成秒杀</a:t>
            </a:r>
            <a:r>
              <a:rPr lang="en-US" altLang="zh-CN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缓存压测，优化热点与失败恢复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575800" y="36576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9956800" y="3848100"/>
            <a:ext cx="1168400" cy="635"/>
          </a:xfrm>
          <a:prstGeom prst="line">
            <a:avLst/>
          </a:prstGeom>
          <a:ln w="19050">
            <a:solidFill>
              <a:srgbClr val="F7F8F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839200" y="4229100"/>
            <a:ext cx="1879600" cy="2298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第</a:t>
            </a:r>
            <a:r>
              <a:rPr lang="en-US" altLang="zh-CN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4 </a:t>
            </a:r>
            <a:r>
              <a:rPr lang="zh-CN" altLang="en-US" sz="1200" b="1">
                <a:solidFill>
                  <a:srgbClr val="1721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周</a:t>
            </a:r>
            <a:endParaRPr lang="zh-CN" altLang="en-US" sz="1200" b="1">
              <a:solidFill>
                <a:srgbClr val="1721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99500" y="4584700"/>
            <a:ext cx="2146300" cy="35306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>
                <a:solidFill>
                  <a:srgbClr val="6B7672"/>
                </a:solidFill>
                <a:latin typeface="微软雅黑" panose="020B0503020204020204" charset="-122"/>
                <a:ea typeface="微软雅黑" panose="020B0503020204020204" charset="-122"/>
              </a:rPr>
              <a:t>制作最终答辩材料、演示录屏与项目总结</a:t>
            </a:r>
            <a:endParaRPr lang="zh-CN" altLang="en-US" sz="1000">
              <a:solidFill>
                <a:srgbClr val="6B767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914400" y="5727700"/>
            <a:ext cx="10223500" cy="406400"/>
          </a:xfrm>
          <a:prstGeom prst="roundRect">
            <a:avLst/>
          </a:prstGeom>
          <a:solidFill>
            <a:srgbClr val="17211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92200" y="5867400"/>
            <a:ext cx="9829800" cy="19939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最终交付目标：一个可部署运行的本地生活点评平台，一套完整数据库脚本，一份测试报告，一段稳定演示流程。</a:t>
            </a:r>
            <a:endParaRPr lang="zh-CN" altLang="en-US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855200" y="6477000"/>
            <a:ext cx="1778000" cy="15303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周边优选通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中期答辩</a:t>
            </a:r>
            <a:r>
              <a:rPr lang="en-US" altLang="zh-CN" sz="700">
                <a:solidFill>
                  <a:srgbClr val="8A93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</a:t>
            </a:r>
            <a:endParaRPr lang="en-US" altLang="zh-CN" sz="700">
              <a:solidFill>
                <a:srgbClr val="8A93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-825500" y="4394200"/>
            <a:ext cx="2921000" cy="2921000"/>
          </a:xfrm>
          <a:prstGeom prst="ellipse">
            <a:avLst/>
          </a:prstGeom>
          <a:solidFill>
            <a:srgbClr val="1BA78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690100" y="-825500"/>
            <a:ext cx="3111500" cy="3111500"/>
          </a:xfrm>
          <a:prstGeom prst="ellipse">
            <a:avLst/>
          </a:prstGeom>
          <a:solidFill>
            <a:srgbClr val="FF6B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1206500"/>
            <a:ext cx="2921000" cy="5378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3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阶段总结</a:t>
            </a:r>
            <a:endParaRPr lang="zh-CN" altLang="en-US" sz="3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6300" y="2044700"/>
            <a:ext cx="5994400" cy="82994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l"/>
            <a:r>
              <a:rPr lang="zh-CN" altLang="en-US" sz="17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本项目已完成从基础点评系统到本地生活服务平台的核心扩展：用户、商家、平台三端主流程基本贯通，</a:t>
            </a:r>
            <a:r>
              <a:rPr lang="en-US" altLang="zh-CN" sz="17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</a:t>
            </a:r>
            <a:r>
              <a:rPr lang="zh-CN" altLang="en-US" sz="17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高并发能力与</a:t>
            </a:r>
            <a:r>
              <a:rPr lang="en-US" altLang="zh-CN" sz="17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AI/</a:t>
            </a:r>
            <a:r>
              <a:rPr lang="zh-CN" altLang="en-US" sz="1700" b="1">
                <a:solidFill>
                  <a:srgbClr val="DD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地图增强功能已落地。</a:t>
            </a:r>
            <a:endParaRPr lang="zh-CN" altLang="en-US" sz="1700" b="1">
              <a:solidFill>
                <a:srgbClr val="DDF3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76300" y="3784600"/>
            <a:ext cx="5397500" cy="965200"/>
          </a:xfrm>
          <a:prstGeom prst="roundRect">
            <a:avLst/>
          </a:prstGeom>
          <a:solidFill>
            <a:srgbClr val="21302D"/>
          </a:solidFill>
          <a:ln w="12700" cap="flat" cmpd="sng" algn="ctr">
            <a:solidFill>
              <a:srgbClr val="3B4E49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30300" y="4076700"/>
            <a:ext cx="4864100" cy="47625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下一阶段将重点完成：部署交付、压测优化、配置安全、演示脚本与最终论文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报告素材沉淀。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35800" y="5283200"/>
            <a:ext cx="3835400" cy="414655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 algn="ctr"/>
            <a:r>
              <a:rPr lang="zh-CN" altLang="en-US" sz="24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感谢各位老师批评指正</a:t>
            </a:r>
            <a:endParaRPr lang="zh-CN" altLang="en-US" sz="24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4366</Words>
  <Application>WPS 演示</Application>
  <PresentationFormat>宽屏</PresentationFormat>
  <Paragraphs>514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微软雅黑</vt:lpstr>
      <vt:lpstr>Arial Black</vt:lpstr>
      <vt:lpstr>黑体</vt:lpstr>
      <vt:lpstr>Microsoft YaHei UI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20878</dc:creator>
  <cp:lastModifiedBy>20878</cp:lastModifiedBy>
  <cp:revision>6</cp:revision>
  <dcterms:created xsi:type="dcterms:W3CDTF">2023-07-11T07:43:00Z</dcterms:created>
  <dcterms:modified xsi:type="dcterms:W3CDTF">2026-04-14T10:54:45Z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2052-12.1.0.25830</vt:lpwstr>
  </property>
  <property fmtid="{D5CDD505-2E9C-101B-9397-08002B2CF9AE}" pid="3" name="ICV">
    <vt:lpwstr>E26C3DB34D3649AFB69F0474FB7ADF91_11</vt:lpwstr>
  </property>
</Properties>
</file>